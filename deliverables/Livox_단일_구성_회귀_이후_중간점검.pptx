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73cb23ade04d41" /><Relationship Type="http://schemas.openxmlformats.org/officeDocument/2006/relationships/extended-properties" Target="/docProps/app.xml" Id="Re596344349604a22" /><Relationship Type="http://schemas.openxmlformats.org/officeDocument/2006/relationships/officeDocument" Target="/ppt/presentation.xml" Id="Rc679ea982cf6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3d0412e66b4e36"/>
  </p:sldMasterIdLst>
  <p:notesMasterIdLst>
    <p:notesMasterId xmlns:r="http://schemas.openxmlformats.org/officeDocument/2006/relationships" r:id="R6d4c1393273f4dcc"/>
  </p:notesMasterIdLst>
  <p:sldIdLst>
    <p:sldId xmlns:r="http://schemas.openxmlformats.org/officeDocument/2006/relationships" id="256" r:id="R0717d9a0a4b84bca"/>
    <p:sldId xmlns:r="http://schemas.openxmlformats.org/officeDocument/2006/relationships" id="257" r:id="Rce41bcf3de724d9e"/>
    <p:sldId xmlns:r="http://schemas.openxmlformats.org/officeDocument/2006/relationships" id="258" r:id="R95c5a3b5c9ce4daa"/>
    <p:sldId xmlns:r="http://schemas.openxmlformats.org/officeDocument/2006/relationships" id="259" r:id="Rf860069abea74e9b"/>
    <p:sldId xmlns:r="http://schemas.openxmlformats.org/officeDocument/2006/relationships" id="260" r:id="Re051b406b71040ab"/>
    <p:sldId xmlns:r="http://schemas.openxmlformats.org/officeDocument/2006/relationships" id="261" r:id="R71e344e4f4ac4575"/>
    <p:sldId xmlns:r="http://schemas.openxmlformats.org/officeDocument/2006/relationships" id="262" r:id="R402ef828f6c649f6"/>
    <p:sldId xmlns:r="http://schemas.openxmlformats.org/officeDocument/2006/relationships" id="263" r:id="R39fc6b16a4a646f7"/>
    <p:sldId xmlns:r="http://schemas.openxmlformats.org/officeDocument/2006/relationships" id="264" r:id="Rc0d05a8cc38c45a6"/>
    <p:sldId xmlns:r="http://schemas.openxmlformats.org/officeDocument/2006/relationships" id="265" r:id="Ra8e97aac53194388"/>
    <p:sldId xmlns:r="http://schemas.openxmlformats.org/officeDocument/2006/relationships" id="266" r:id="Rc8fb79f536a94fd6"/>
    <p:sldId xmlns:r="http://schemas.openxmlformats.org/officeDocument/2006/relationships" id="267" r:id="Re71b7eb8ffa04f1d"/>
    <p:sldId xmlns:r="http://schemas.openxmlformats.org/officeDocument/2006/relationships" id="268" r:id="R00f357a79a4d47be"/>
    <p:sldId xmlns:r="http://schemas.openxmlformats.org/officeDocument/2006/relationships" id="269" r:id="R0756eb003a4b4fdd"/>
    <p:sldId xmlns:r="http://schemas.openxmlformats.org/officeDocument/2006/relationships" id="270" r:id="R47770dccd1ce4585"/>
    <p:sldId xmlns:r="http://schemas.openxmlformats.org/officeDocument/2006/relationships" id="271" r:id="R22552faab0b840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c3bab68ade42f7" /><Relationship Type="http://schemas.openxmlformats.org/officeDocument/2006/relationships/slideMaster" Target="/ppt/slideMasters/slideMaster1.xml" Id="R4d3d0412e66b4e36" /><Relationship Type="http://schemas.openxmlformats.org/officeDocument/2006/relationships/notesMaster" Target="/ppt/notesMasters/notesMaster1.xml" Id="R6d4c1393273f4dcc" /><Relationship Type="http://schemas.openxmlformats.org/officeDocument/2006/relationships/presProps" Target="/ppt/presProps.xml" Id="Rfb0aefe30b5d4039" /><Relationship Type="http://schemas.openxmlformats.org/officeDocument/2006/relationships/tableStyles" Target="/ppt/tableStyles.xml" Id="R3cc7e15187ef435a" /><Relationship Type="http://schemas.openxmlformats.org/officeDocument/2006/relationships/slide" Target="/ppt/slides/slide1.xml" Id="R0717d9a0a4b84bca" /><Relationship Type="http://schemas.openxmlformats.org/officeDocument/2006/relationships/slide" Target="/ppt/slides/slide2.xml" Id="Rce41bcf3de724d9e" /><Relationship Type="http://schemas.openxmlformats.org/officeDocument/2006/relationships/slide" Target="/ppt/slides/slide3.xml" Id="R95c5a3b5c9ce4daa" /><Relationship Type="http://schemas.openxmlformats.org/officeDocument/2006/relationships/slide" Target="/ppt/slides/slide4.xml" Id="Rf860069abea74e9b" /><Relationship Type="http://schemas.openxmlformats.org/officeDocument/2006/relationships/slide" Target="/ppt/slides/slide5.xml" Id="Re051b406b71040ab" /><Relationship Type="http://schemas.openxmlformats.org/officeDocument/2006/relationships/slide" Target="/ppt/slides/slide6.xml" Id="R71e344e4f4ac4575" /><Relationship Type="http://schemas.openxmlformats.org/officeDocument/2006/relationships/slide" Target="/ppt/slides/slide7.xml" Id="R402ef828f6c649f6" /><Relationship Type="http://schemas.openxmlformats.org/officeDocument/2006/relationships/slide" Target="/ppt/slides/slide8.xml" Id="R39fc6b16a4a646f7" /><Relationship Type="http://schemas.openxmlformats.org/officeDocument/2006/relationships/slide" Target="/ppt/slides/slide9.xml" Id="Rc0d05a8cc38c45a6" /><Relationship Type="http://schemas.openxmlformats.org/officeDocument/2006/relationships/slide" Target="/ppt/slides/slide10.xml" Id="Ra8e97aac53194388" /><Relationship Type="http://schemas.openxmlformats.org/officeDocument/2006/relationships/slide" Target="/ppt/slides/slide11.xml" Id="Rc8fb79f536a94fd6" /><Relationship Type="http://schemas.openxmlformats.org/officeDocument/2006/relationships/slide" Target="/ppt/slides/slide12.xml" Id="Re71b7eb8ffa04f1d" /><Relationship Type="http://schemas.openxmlformats.org/officeDocument/2006/relationships/slide" Target="/ppt/slides/slide13.xml" Id="R00f357a79a4d47be" /><Relationship Type="http://schemas.openxmlformats.org/officeDocument/2006/relationships/slide" Target="/ppt/slides/slide14.xml" Id="R0756eb003a4b4fdd" /><Relationship Type="http://schemas.openxmlformats.org/officeDocument/2006/relationships/slide" Target="/ppt/slides/slide15.xml" Id="R47770dccd1ce4585" /><Relationship Type="http://schemas.openxmlformats.org/officeDocument/2006/relationships/slide" Target="/ppt/slides/slide16.xml" Id="R22552faab0b840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b4ddda9f284d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17c0d9ac154512" /><Relationship Type="http://schemas.openxmlformats.org/officeDocument/2006/relationships/notesMaster" Target="/ppt/notesMasters/notesMaster1.xml" Id="R08d5558b1a4b4c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1ee45161b943f7" /><Relationship Type="http://schemas.openxmlformats.org/officeDocument/2006/relationships/notesMaster" Target="/ppt/notesMasters/notesMaster1.xml" Id="R063115bd6ea54b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8f4bd7a72849d8" /><Relationship Type="http://schemas.openxmlformats.org/officeDocument/2006/relationships/notesMaster" Target="/ppt/notesMasters/notesMaster1.xml" Id="Rd1385e19fe794e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9959bed9274878" /><Relationship Type="http://schemas.openxmlformats.org/officeDocument/2006/relationships/notesMaster" Target="/ppt/notesMasters/notesMaster1.xml" Id="Ra27a692b4ad743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5c0df42fd64997" /><Relationship Type="http://schemas.openxmlformats.org/officeDocument/2006/relationships/notesMaster" Target="/ppt/notesMasters/notesMaster1.xml" Id="R3fb4f076709f44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e1d49c9ce5466b" /><Relationship Type="http://schemas.openxmlformats.org/officeDocument/2006/relationships/notesMaster" Target="/ppt/notesMasters/notesMaster1.xml" Id="Re2910bdadf2e4b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2ed5f6d97d4bec" /><Relationship Type="http://schemas.openxmlformats.org/officeDocument/2006/relationships/notesMaster" Target="/ppt/notesMasters/notesMaster1.xml" Id="R3cb376d9cdb349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b6d11b155948d2" /><Relationship Type="http://schemas.openxmlformats.org/officeDocument/2006/relationships/notesMaster" Target="/ppt/notesMasters/notesMaster1.xml" Id="R4ae9632b82bc4f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d6df2702e94607" /><Relationship Type="http://schemas.openxmlformats.org/officeDocument/2006/relationships/notesMaster" Target="/ppt/notesMasters/notesMaster1.xml" Id="R194ce1e741fd49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2d17566369473b" /><Relationship Type="http://schemas.openxmlformats.org/officeDocument/2006/relationships/notesMaster" Target="/ppt/notesMasters/notesMaster1.xml" Id="Raa930ab1fd3744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682b82b7c04997" /><Relationship Type="http://schemas.openxmlformats.org/officeDocument/2006/relationships/notesMaster" Target="/ppt/notesMasters/notesMaster1.xml" Id="Rc3ca8b4625f04a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b5f1fc22864aa7" /><Relationship Type="http://schemas.openxmlformats.org/officeDocument/2006/relationships/notesMaster" Target="/ppt/notesMasters/notesMaster1.xml" Id="Rc941f2e3d0654b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339bf48e85420f" /><Relationship Type="http://schemas.openxmlformats.org/officeDocument/2006/relationships/notesMaster" Target="/ppt/notesMasters/notesMaster1.xml" Id="R28552e46352f4f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24d48abe6a4ffc" /><Relationship Type="http://schemas.openxmlformats.org/officeDocument/2006/relationships/notesMaster" Target="/ppt/notesMasters/notesMaster1.xml" Id="R741adc84019842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d084d5add54818" /><Relationship Type="http://schemas.openxmlformats.org/officeDocument/2006/relationships/notesMaster" Target="/ppt/notesMasters/notesMaster1.xml" Id="Rdc22629b1bac44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ea8cdfd9b14bd5" /><Relationship Type="http://schemas.openxmlformats.org/officeDocument/2006/relationships/notesMaster" Target="/ppt/notesMasters/notesMaster1.xml" Id="Rcc4b26ffab09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 history and field evidence in /Users/minjun/unicon-wheelchair.</a:t>
            </a:r>
          </a:p>
          <a:p xmlns:a="http://schemas.openxmlformats.org/drawingml/2006/main">
            <a:r>
              <a:t>- No external image is embedded; the visible rectangle is a user-requested photo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agenda screenshot used as the structural visual reference for this agenda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999028a, 3a64b80, bb14666, d52ce66, f59e30f.</a:t>
            </a:r>
          </a:p>
          <a:p xmlns:a="http://schemas.openxmlformats.org/drawingml/2006/main">
            <a:r>
              <a:t>- /Users/minjun/unicon-wheelchair/docs/debug_bags.md lines 110-173.</a:t>
            </a:r>
          </a:p>
          <a:p xmlns:a="http://schemas.openxmlformats.org/drawingml/2006/main">
            <a:r>
              <a:t>- /Users/minjun/unicon-wheelchair/README.md lines 56-79 and 302-306.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--format=fuller --stat --summary 999028a.</a:t>
            </a:r>
          </a:p>
          <a:p xmlns:a="http://schemas.openxmlformats.org/drawingml/2006/main">
            <a:r>
              <a:t>- git rev-list --count 999028a..a3f0e85 =&gt; 68.</a:t>
            </a:r>
          </a:p>
          <a:p xmlns:a="http://schemas.openxmlformats.org/drawingml/2006/main">
            <a:r>
              <a:t>- git show 3a64b80 and git show bb14666.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3a64b80: measured extrinsics, stationary result, and moving validation still pending.</a:t>
            </a:r>
          </a:p>
          <a:p xmlns:a="http://schemas.openxmlformats.org/drawingml/2006/main">
            <a:r>
              <a:t>- git show 999028a: VN-100 fusion removed and Livox built-in IMU restored.</a:t>
            </a:r>
          </a:p>
          <a:p xmlns:a="http://schemas.openxmlformats.org/drawingml/2006/main">
            <a:r>
              <a:t>- git show bb14666 and tools/start_wheelchair_localization.sh lines 108-153: Livox remains the field default; VN_IMU=1 is an explicit override.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4ca3350, d52ce66, and 35122b8.</a:t>
            </a:r>
          </a:p>
          <a:p xmlns:a="http://schemas.openxmlformats.org/drawingml/2006/main">
            <a:r>
              <a:t>- /Users/minjun/unicon-wheelchair/docs/debug_bags.md lines 110-139.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ed2b272 and bb14666: map coverage and one pinned map identity.</a:t>
            </a:r>
          </a:p>
          <a:p xmlns:a="http://schemas.openxmlformats.org/drawingml/2006/main">
            <a:r>
              <a:t>- git show 0eb8c62: reversed start heading and replayed inlier score.</a:t>
            </a:r>
          </a:p>
          <a:p xmlns:a="http://schemas.openxmlformats.org/drawingml/2006/main">
            <a:r>
              <a:t>- git show defd0d2: ROI-based score and recorded-line steering.</a:t>
            </a:r>
          </a:p>
          <a:p xmlns:a="http://schemas.openxmlformats.org/drawingml/2006/main">
            <a:r>
              <a:t>- git show 91e8d04 and 11b346e: timestamp monotonicity and fail-closed route/localization handling.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e12f9b8: commanded turn did not reach the wheels and kerb excursion analysis.</a:t>
            </a:r>
          </a:p>
          <a:p xmlns:a="http://schemas.openxmlformats.org/drawingml/2006/main">
            <a:r>
              <a:t>- git show bd37dbb and a8bb453: chair-centre/reference-point handling.</a:t>
            </a:r>
          </a:p>
          <a:p xmlns:a="http://schemas.openxmlformats.org/drawingml/2006/main">
            <a:r>
              <a:t>- git show ffc001b: measured sensor height 0.725 m and obstacle-band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d5939fb, cc0f54d, 07beb42, bd37dbb, and a847579.</a:t>
            </a:r>
          </a:p>
          <a:p xmlns:a="http://schemas.openxmlformats.org/drawingml/2006/main">
            <a:r>
              <a:t>- README.md lines 114-121 for route point count and length.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52a47a6: diagnostic mode separates discretionary policies and preserves fail-safes.</a:t>
            </a:r>
          </a:p>
          <a:p xmlns:a="http://schemas.openxmlformats.org/drawingml/2006/main">
            <a:r>
              <a:t>- /Users/minjun/unicon-wheelchair/README.md lines 177-187.</a:t>
            </a:r>
          </a:p>
          <a:p xmlns:a="http://schemas.openxmlformats.org/drawingml/2006/main">
            <a:r>
              <a:t>- git show a8bb453: 0727 localization-only trial scripts and pre-drive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f59e30f: two complete runs and all reported metrics.</a:t>
            </a:r>
          </a:p>
          <a:p xmlns:a="http://schemas.openxmlformats.org/drawingml/2006/main">
            <a:r>
              <a:t>- /Users/minjun/unicon-wheelchair/README.md lines 56-79.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/Users/minjun/unicon-wheelchair/README.md lines 140-155 for the deployed command path and failover behavior.</a:t>
            </a:r>
          </a:p>
          <a:p xmlns:a="http://schemas.openxmlformats.org/drawingml/2006/main">
            <a:r>
              <a:t>- git show 814a17d, 4b4fb2c, and 52a47a6 for stop propagation, wheel status validation, and diagnostic-mode invariants.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f69351f and /Users/minjun/unicon-wheelchair/docs/2026-08-02-field-report.md lines 3-75.</a:t>
            </a:r>
          </a:p>
          <a:p xmlns:a="http://schemas.openxmlformats.org/drawingml/2006/main">
            <a:r>
              <a:t>- git show 5599d30 for the return-based obstacle distance correction applied before the later field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/Users/minjun/unicon-wheelchair/README.md lines 114-130 and 302-306.</a:t>
            </a:r>
          </a:p>
          <a:p xmlns:a="http://schemas.openxmlformats.org/drawingml/2006/main">
            <a:r>
              <a:t>- /Users/minjun/unicon-wheelchair/README.md lines 279-300: formal release and physical authority remain unapproved.</a:t>
            </a:r>
          </a:p>
          <a:p xmlns:a="http://schemas.openxmlformats.org/drawingml/2006/main">
            <a:r>
              <a:t>- /Users/minjun/unicon-wheelchair/tools/start_wheelchair_localization.sh lines 108-153.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/Users/minjun/unicon-wheelchair/README.md lines 302-306 for current open items.</a:t>
            </a:r>
          </a:p>
          <a:p xmlns:a="http://schemas.openxmlformats.org/drawingml/2006/main">
            <a:r>
              <a:t>- /Users/minjun/unicon-wheelchair/docs/2026-08-02-field-report.md lines 70-75 for evidence identity and shadow-safety follow-up.</a:t>
            </a:r>
          </a:p>
          <a:p xmlns:a="http://schemas.openxmlformats.org/drawingml/2006/main">
            <a:r>
              <a:t>- /Users/minjun/unicon-wheelchair/docs/debug_bags.md lines 161-173 for the prescribed Livox-baseline and separate VN-100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commit subjects and bodies were inspected with git show in /Users/minjun/unicon-wheelchair.</a:t>
            </a:r>
          </a:p>
          <a:p xmlns:a="http://schemas.openxmlformats.org/drawingml/2006/main">
            <a:r>
              <a:t>- git log 999028a..a3f0e85 --oneline and git rev-list --count 999028a..a3f0e85.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c9e768e1840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e4138aa47545e5" /><Relationship Type="http://schemas.openxmlformats.org/officeDocument/2006/relationships/slideLayout" Target="/ppt/slideLayouts/slideLayout1.xml" Id="Rb306dda60b80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06dda60b80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fd30ffd34a98" /><Relationship Type="http://schemas.openxmlformats.org/officeDocument/2006/relationships/notesSlide" Target="/ppt/notesSlides/notesSlide1.xml" Id="Rb2c927059b384e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267704ce64388" /><Relationship Type="http://schemas.openxmlformats.org/officeDocument/2006/relationships/notesSlide" Target="/ppt/notesSlides/notesSlide2.xml" Id="R70aef5eaaec545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0310d86d14f92" /><Relationship Type="http://schemas.openxmlformats.org/officeDocument/2006/relationships/notesSlide" Target="/ppt/notesSlides/notesSlide3.xml" Id="Rde1abe6f327049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564db081043eb" /><Relationship Type="http://schemas.openxmlformats.org/officeDocument/2006/relationships/notesSlide" Target="/ppt/notesSlides/notesSlide4.xml" Id="Re18c56d60ddb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87f4106fd48fa" /><Relationship Type="http://schemas.openxmlformats.org/officeDocument/2006/relationships/notesSlide" Target="/ppt/notesSlides/notesSlide5.xml" Id="R3a6f232206d846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6c5a805e84ac0" /><Relationship Type="http://schemas.openxmlformats.org/officeDocument/2006/relationships/notesSlide" Target="/ppt/notesSlides/notesSlide6.xml" Id="R5f297c2ad53748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402a69cd8419a" /><Relationship Type="http://schemas.openxmlformats.org/officeDocument/2006/relationships/notesSlide" Target="/ppt/notesSlides/notesSlide7.xml" Id="R2b3665fa638f40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6eeb3f5b54c81" /><Relationship Type="http://schemas.openxmlformats.org/officeDocument/2006/relationships/notesSlide" Target="/ppt/notesSlides/notesSlide8.xml" Id="R4df09b78723e44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00405ed354c37" /><Relationship Type="http://schemas.openxmlformats.org/officeDocument/2006/relationships/notesSlide" Target="/ppt/notesSlides/notesSlide9.xml" Id="Rfcc09fe456e241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c0242da884c78" /><Relationship Type="http://schemas.openxmlformats.org/officeDocument/2006/relationships/notesSlide" Target="/ppt/notesSlides/notesSlide10.xml" Id="R883babd0846345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e9446fa9b43f1" /><Relationship Type="http://schemas.openxmlformats.org/officeDocument/2006/relationships/notesSlide" Target="/ppt/notesSlides/notesSlide11.xml" Id="R691456072e7e4c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b4101c0384650" /><Relationship Type="http://schemas.openxmlformats.org/officeDocument/2006/relationships/notesSlide" Target="/ppt/notesSlides/notesSlide12.xml" Id="R999c5d6cd9d341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1fbbc3c494387" /><Relationship Type="http://schemas.openxmlformats.org/officeDocument/2006/relationships/notesSlide" Target="/ppt/notesSlides/notesSlide13.xml" Id="R5f3e6d6bca1741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7a8f936f9452a" /><Relationship Type="http://schemas.openxmlformats.org/officeDocument/2006/relationships/notesSlide" Target="/ppt/notesSlides/notesSlide14.xml" Id="Rcf949ad2493a43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29ae0b3374ede" /><Relationship Type="http://schemas.openxmlformats.org/officeDocument/2006/relationships/notesSlide" Target="/ppt/notesSlides/notesSlide15.xml" Id="Rd14b3f54ddb145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df8c258dd4a7d" /><Relationship Type="http://schemas.openxmlformats.org/officeDocument/2006/relationships/notesSlide" Target="/ppt/notesSlides/notesSlide16.xml" Id="R4d306c8391dc4c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7633A-3AB7-4075-928E-D0DC42A7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3A903-6712-4BEA-8E00-4B30CE5E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자율주행 전동휠체어 · 중간점검 보고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659B9-A646-4394-AF8A-39941C42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9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Livox 단일 구성 복귀 이후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9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위치추정·경로주행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11DDE-59FA-4D45-B686-DF870777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센서 변수 고정에서 ROSBAG 원본 경로 재현,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안전 게이트 단계 검증까지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EC6F4-DBE3-476A-9CE1-CD414D30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6002C-0F2F-4099-A6FF-DBFC2C85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발표자  ____________________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지도교수  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06B7F-6854-4724-B27C-D1BBF445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분석 범위  2026.07.27 — 2026.08.03</a:t>
            </a:r>
          </a:p>
        </p:txBody>
      </p:sp>
      <p:sp>
        <p:nvSpPr>
          <p:cNvPr id="8" name="photo-실차 전경 또는 Livox 장착부">
            <a:extLst xmlns:a="http://schemas.openxmlformats.org/drawingml/2006/main">
              <a:ext uri="{FF2B5EF4-FFF2-40B4-BE49-F238E27FC236}">
                <a16:creationId xmlns:a16="http://schemas.microsoft.com/office/drawing/2014/main" id="{8828E389-B0C5-4E44-B2C3-8919DF39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3905250" cy="4953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CD9F2-9D42-4A40-85AE-84FC46E4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04775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29110-882B-4273-905B-0BA9BF96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0763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AE44C-EF60-4FA8-912B-B8307CAE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실차 전경 또는 Livox 장착부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E7A4B-4723-4DC3-811D-9C1804BE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340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세로 사진 권장 · 휠체어와 센서가 함께 보이게</a:t>
            </a:r>
          </a:p>
        </p:txBody>
      </p:sp>
    </p:spTree>
    <p:extLst>
      <p:ext uri="{BB962C8B-B14F-4D97-AF65-F5344CB8AC3E}">
        <p14:creationId xmlns:p14="http://schemas.microsoft.com/office/powerpoint/2010/main" val="917218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192F17-F0EF-4102-B958-34C53DC0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1F11D-2495-4051-86F1-87E9D034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발표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9A17A-A272-434A-9509-B0370108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EBC77-6769-499D-B58C-CC2A984D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31174-B5D2-4077-A93C-1D8D84C6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44280-05E0-4110-8E13-534E6D24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6EB55-ACF4-43CA-9D47-34C60E8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495425"/>
            <a:ext cx="95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2A270-C5FD-4E08-9F6E-C1E6946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335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프로젝트 개요와 이번 중간점검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EA52B-CE4A-4B9F-9656-E7EF1134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0E306-3C0C-487A-9FB5-2908F50D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CB317-1FA1-48D5-A8BD-2F3ACE4C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62175"/>
            <a:ext cx="95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5F948-75F2-40BB-8860-0893A076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02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Livox Mid-360 + VN-100 센서 융합 시도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5A3D0-803A-480B-9784-22607E9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F274D-8958-4EAA-9753-E5598C15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15F73-2A22-4C31-B791-D3D9E099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28925"/>
            <a:ext cx="95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88F6C-4327-478E-9692-2A79E166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670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Livox Mid-360 단일 사용으로 회귀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656E6-9C75-47EC-8935-68157DE7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5CED8-8E51-4E01-92E5-1B51BE8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6F6DC-3028-4698-8FE0-FC4AC3CA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95675"/>
            <a:ext cx="95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D81B3-2B3F-423E-9A79-7157C608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337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로컬라이제이션 원인 파악과 수동 주행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D3AC0-83B6-4976-A9F9-D6AA8CC9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2F278-4039-47F5-8463-7F3C8BAD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F12C2-21E3-48A0-9589-E7B63A58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62425"/>
            <a:ext cx="95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9BF15-9D94-4516-A119-F1AAB58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005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ROSBAG 원본 경로 재현 주행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107E63-93ED-42A4-9B1C-0B8071C8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0B9B2-58A7-485F-A353-BED200A5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7CD193-D8A4-44C6-8FE6-FBF51F1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29175"/>
            <a:ext cx="95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3D662-1976-4A02-B9DB-99B8E73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672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안전 게이트 적용 및 기록 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E49B6D-5220-4F03-800C-D70A07E8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DB2F6-F907-43ED-B6F0-86E2F7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970123-ACB8-4D96-99CA-6B82690A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95925"/>
            <a:ext cx="95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0C81B9-714B-40A2-B2BB-4295CC64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340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수행 결과, 남은 위험과 다음 실험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96B92-8A03-406B-BBA6-34046ABC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20A41F-148E-45E8-96AD-15121DF9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1B57E-87B9-4C76-819F-2792AD96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02</a:t>
            </a:r>
          </a:p>
        </p:txBody>
      </p:sp>
    </p:spTree>
    <p:extLst>
      <p:ext uri="{BB962C8B-B14F-4D97-AF65-F5344CB8AC3E}">
        <p14:creationId xmlns:p14="http://schemas.microsoft.com/office/powerpoint/2010/main" val="838178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C83D3-9E22-4A86-8678-82CE6241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6AF21-2FDF-4AEA-A37A-0ECB20C8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중간점검의 결론은 세 가지입니다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5C38F-7E39-474C-9858-EC5E98B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CC34D-E8F7-45B5-8860-E00308B9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306D3-9B77-41BC-9811-A842FBB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81A76-BA6F-462B-8F0E-2988704A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049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Livox 내장 IMU를 현장 기본값으로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AD57-D98A-477E-9264-7D15FBB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431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동일 주행 비교에서 VN-100의 이동 중 자이로 우위가 확인되지 않았고, 가속도 스케일은 추가 검증이 필요했습니다.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6EEB6-306A-4C35-A6D8-28209D94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9E1BE-A48E-4625-B2B4-AEA689DB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A2A11-D3AF-4250-B398-F4014D09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860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문제 원인은 센서 하나가 아니라 지도·프레임·점수·구동계의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76810-53CC-40AC-806C-CDE0D3C2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2422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수동 주행과 bag 분석으로 초기 방향 반전, 지도 식별자 불일치, ROI 밖 점수 오염, 저속 선회 미동작을 분리했습니다.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3B785-BE7C-469C-964E-6394067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58835-C389-4DFA-B055-6BDA0D07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450BF-BED4-422C-A12A-F30D4727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672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0727 경로의 위치추정은 닫혔고, v4 안전 근거는 아직 열려 있음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04F8C-F654-4849-B60A-E0710223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05350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두 번의 완주에서 주행 샘플 전부 TRACKING이었지만, 현재 배포 경로 v4의 위치추정 envelope와 물리적 경계 측정은 미완료입니다.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C8004-40D4-445B-9CAB-DEDDC54F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5EE2A-6FE0-41D1-8117-9D8D3D08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999028a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FF5E9-7C35-40CF-99CE-3700DDED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5310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기준선 회귀 이후의 커밋·bag·필드 보고서를 연결해 결론을 도출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BAA84-B7A7-4B8E-9694-14C9B799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FDCE3-B06D-44A1-889D-A99827D0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BA4AE-A142-44E3-9738-88116F09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03</a:t>
            </a:r>
          </a:p>
        </p:txBody>
      </p:sp>
    </p:spTree>
    <p:extLst>
      <p:ext uri="{BB962C8B-B14F-4D97-AF65-F5344CB8AC3E}">
        <p14:creationId xmlns:p14="http://schemas.microsoft.com/office/powerpoint/2010/main" val="1142941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442216-DB3D-4D2A-8FEF-052F1A2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66189-3641-4D68-9DDD-B30423D2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999028a 이후 68개 커밋을 추적했습니다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F6DA5-8F43-497C-AD39-47242A8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53734-57ED-49D1-8819-205F297B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oto-Git log 또는 commit diff 캡처">
            <a:extLst xmlns:a="http://schemas.openxmlformats.org/drawingml/2006/main">
              <a:ext uri="{FF2B5EF4-FFF2-40B4-BE49-F238E27FC236}">
                <a16:creationId xmlns:a16="http://schemas.microsoft.com/office/drawing/2014/main" id="{AF09082A-F91C-41B5-BCEF-31A746AF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85900"/>
            <a:ext cx="3733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4BC70-18E5-4306-9AD6-D50D5FF3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8769F-A4D1-4674-A792-838C235E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859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1C45E-9F6A-4541-AFC0-2DEE43A9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28850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Git log 또는 commit diff 캡처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3219D-F5DF-4FE7-B484-918AE7A6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999028a와 3a64b80이 함께 보이게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EEE51-3608-4CE6-9B51-8CDADC84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분석 기준점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B44A4-FB31-4EAB-B654-177094E6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315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2026.07.27 · 999028a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078CE-674C-4D90-B121-42C4CF5A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VN-100 융합을 제거하고 Livox 내장 IMU로 복귀했습니다.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7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동시에 33개 커밋·46개 파일의 다른 수정도 되돌아갔습니다.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BDB76-3B95-4675-AA8E-F90BC435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9E3AA-D711-4A54-835B-184294D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146F7-F80A-4228-99CA-A0933B8C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07/25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6E872-F5C4-48F4-9723-D55A234B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3a64b80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8ECF5-1758-4456-AA74-C7ACFBD6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816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VN-100 융합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AE312-B47B-4345-B830-3EC8A43B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3E4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70A35-A592-48E0-BE17-73218076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196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07/27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162D9-00F6-4115-BB0C-05879A10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9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999028a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34869-3ADB-43BD-9DE4-50261354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816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Livox 기준선 회귀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DE528-7C81-41B1-99AA-5C5DC01E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7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5C18A-3690-40DD-85CC-B4297295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96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07/29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32084-267A-4E45-8F5A-A97BEE9F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9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bb14666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34B54-3B38-449B-A2EC-52C66560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816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Livox 기본값 확정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5CEBA-D397-4552-BCD5-3BAD335C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67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75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515C4A-9161-451F-80B3-165286E5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196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08/03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F1E17-BA73-48DE-8F45-53D714BA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9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a3f0e85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CD275-67B4-4CEA-BE91-EBF4275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816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분석 종점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4972F-5DE8-472F-9060-273680C8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해석 원칙  ·  회귀는 ‘센서 선택’과 ‘되돌아온 결함’을 분리해 다시 검증하는 출발점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9F2006-EEB3-43B0-978C-9143D9F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D627E-E49F-443C-8583-8971913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621F23-950F-45C0-AF9E-E8B21737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04</a:t>
            </a:r>
          </a:p>
        </p:txBody>
      </p:sp>
    </p:spTree>
    <p:extLst>
      <p:ext uri="{BB962C8B-B14F-4D97-AF65-F5344CB8AC3E}">
        <p14:creationId xmlns:p14="http://schemas.microsoft.com/office/powerpoint/2010/main" val="1481563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3BB434-B550-4A7B-B0E5-844F6995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01 · SENSOR 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783BD-5679-4723-A87F-001B2D7F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VN-100 융합은 이동 검증 전에 되돌렸습니다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3F195-2C14-497B-B992-8B1D1DA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ADAAC-ACEF-4ABA-8B1C-8C107EA6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oto-두 IMU 장착 위치와 축 방향">
            <a:extLst xmlns:a="http://schemas.openxmlformats.org/drawingml/2006/main">
              <a:ext uri="{FF2B5EF4-FFF2-40B4-BE49-F238E27FC236}">
                <a16:creationId xmlns:a16="http://schemas.microsoft.com/office/drawing/2014/main" id="{EE8A5E60-22D5-4317-91A0-BE40CFA7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343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2EF59-CE8B-4F49-B3A9-592D89A0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7640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89000-86FF-4BF7-A907-DDABB30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049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B1506-3BFA-4EDE-801C-9EE8119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67025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두 IMU 장착 위치와 축 방향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B9B9F-BFEC-4059-9382-0406C0B3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43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MID-360 / VN-100 라벨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78C81-2ECA-4CF7-B8DC-27670641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66963-1F31-43F2-BEA4-54268653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시도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8BEFE-74F2-4915-8F62-22CA9F6C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586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MID-360 내장 MEMS보다 VN-100의 관성 성능이 좋을 가능성을 FAST-LIO와 tip guard에 활용하려 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73A5C-9058-4DBA-876C-D08387B2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75"/>
          </a:solidFill>
          <a:ln xmlns:a="http://schemas.openxmlformats.org/drawingml/2006/main" w="0">
            <a:solidFill>
              <a:srgbClr val="18A6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8A217-58E3-4E32-AE26-6B400D15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측정한 외부 파라미터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A49B2-5724-40DF-B663-F99BD2B5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86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150초 동시 회전 데이터로 yaw -2.80°, 위치 14.4 cm 뒤·2.2 cm 측면·6.7 cm 아래를 추정했습니다.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79095-3E13-40DF-80B2-E055422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E318E-4C21-4A8F-8B67-6B2D95D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당시 확인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7B371-E827-415A-B103-EFE8CF63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86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정지 30초 drift 9.9 mm, pitch 0.19°까지 확인했지만 이동 중 검증과 tip guard 상관 검증은 남아 있었습니다.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EBAD3-4FB7-4242-A969-F3A1C37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C83E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2F823-030D-43A4-A91E-0C9BDFF8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83E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83E4D"/>
                </a:solidFill>
                <a:latin typeface="Apple SD Gothic Neo"/>
                <a:ea typeface="Apple SD Gothic Neo"/>
                <a:cs typeface="Apple SD Gothic Neo"/>
              </a:rPr>
              <a:t>회귀 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D18F4-3AF3-48D5-9AC3-C2C1299B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57775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검증되지 않은 센서를 운영 경로의 기본값으로 두지 않고, Livox를 기준선으로 고정한 뒤 동일 주행에서 두 센서를 병렬 비교하기로 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D9EF4-3980-459D-950F-24D7575A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BA9EE-6B45-4CA7-9B18-73B8996D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626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3a64b80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98E2E-AA09-4A1C-9E97-315ECF0F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5315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융합 시도  →  999028a에서 제거  →  이후 VN_IMU=1 진단 옵션으로만 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A5620-1327-4B1B-8434-E4AE747C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D4850-1F85-4C79-BC62-9A08D1DF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6C93F0-F30E-475F-8822-462A49D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05</a:t>
            </a:r>
          </a:p>
        </p:txBody>
      </p:sp>
    </p:spTree>
    <p:extLst>
      <p:ext uri="{BB962C8B-B14F-4D97-AF65-F5344CB8AC3E}">
        <p14:creationId xmlns:p14="http://schemas.microsoft.com/office/powerpoint/2010/main" val="1454387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D25164-3E5F-4CDD-B2EF-E8462CA4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02 · SINGLE LIVOX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C8195-3F63-4441-88C3-EC047ECC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같은 주행에서 비교하자 VN-100의 우위가 보이지 않았습니다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DCB01-396B-4513-B2D3-628E3EA8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FF6FD-7ACB-4295-8AA8-2033F384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D1EBE-BD16-48F3-B259-607C8FD3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95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ECAB3-2D86-47A5-A011-9F2E4CCD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357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52D28-C4E0-41AC-946E-BBC2549A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동시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C6631-12EB-4814-B462-9D63248E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466,616 messages · drop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2CF4A-8EBD-4670-973C-0EB9E054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62100"/>
            <a:ext cx="195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F76B3-5278-46FB-8D6D-86364E14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165.8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2FEEF-7152-4191-8079-EC132678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431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조이스틱 주행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FA728-8AE4-40C7-9D3F-3CE2EC71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두 센서가 동일한 움직임을 관측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B7A83-E133-41C1-B093-B0FAC9A2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62100"/>
            <a:ext cx="195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7C8EB-F9D2-462A-88DE-0B58ADF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1450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200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27CCE-C19C-4A97-BC2A-A865154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두 IMU 주기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25971-45A4-4906-AE4F-2EE2DCE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479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median stamp offset 약 4.2 ms</a:t>
            </a:r>
          </a:p>
        </p:txBody>
      </p:sp>
      <p:sp>
        <p:nvSpPr>
          <p:cNvPr id="17" name="photo-수동 주행 또는 bag 분석 화면">
            <a:extLst xmlns:a="http://schemas.openxmlformats.org/drawingml/2006/main">
              <a:ext uri="{FF2B5EF4-FFF2-40B4-BE49-F238E27FC236}">
                <a16:creationId xmlns:a16="http://schemas.microsoft.com/office/drawing/2014/main" id="{3DD1AF79-BD51-480E-8763-BB01DA26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049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36EF4-B457-4B55-9B93-B1DF4AC8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46892-75DE-4008-AF59-D2D92E2F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049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D69E8-FEDF-4B66-8F8B-E6142BC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907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수동 주행 또는 bag 분석 화면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CE90C-217B-41F9-9919-EDA641B3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그래프·터미널·RViz 중 하나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D2789-901A-4061-BF56-4B910B6F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6BCDA-4ACB-4D81-A34F-198A3910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643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이동 중 자이로 차이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0870F-1B01-4318-AF65-07316619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축별 RMS 0.69 / 0.92 / 0.67°/s. 휠 odometry와의 오차도 두 센서가 동일해 잔차는 휠 미끄럼으로 해석했습니다.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63DEE-2BE2-4815-9DBB-BD21B2C7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1F041-C92C-4976-A5AB-B1F62258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643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가속도 단위와 스케일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F02A3-4F0C-469A-9A1E-31820259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Livox는 0.9994 g, VN-100은 9.5435 m/s²로 측정되어 VN-100 가속도 스케일은 tilt magnitude 용도로 미검증 상태입니다.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76864-98F5-41D7-B636-6204C9FE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95750"/>
            <a:ext cx="4095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18A67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E577C2-267C-4050-9E66-3D45357D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FE4C6-412D-47EF-A4BC-D87BD9F0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3600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이번 휠체어 동역학과 장착 환경에서는 VN-100 교체의 실익이 입증되지 않았습니다.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→ Livox 단일 기준선 유지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CF784-55F3-4504-8DB0-8EB19056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970F54-3C65-4FFD-B45F-3DA2912A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d52ce66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3EB21E-5F10-42CF-9CFD-E2454E5B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0075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비교 도구  ·  35122b8에 주행 결과와 다음 검증 프로토콜 기록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39686B-FF23-4853-AFA2-CE6E453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82C6D9-6701-4E9E-871F-0D044113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A30BC8-4393-495D-B214-F628562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06</a:t>
            </a:r>
          </a:p>
        </p:txBody>
      </p:sp>
    </p:spTree>
    <p:extLst>
      <p:ext uri="{BB962C8B-B14F-4D97-AF65-F5344CB8AC3E}">
        <p14:creationId xmlns:p14="http://schemas.microsoft.com/office/powerpoint/2010/main" val="1840174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C0935-9E61-42B5-B6A8-40BE7C64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03 ·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8A33B-15C8-4498-AFE7-C287CB2B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위치추정 실패는 센서보다 데이터 계약 문제였습니다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2FB90-BF72-4AC8-B278-D8CFAEED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AF8D7-F1D2-404E-A6AA-059A76C3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oto-RViz 정합 실패·초기 자세 비교">
            <a:extLst xmlns:a="http://schemas.openxmlformats.org/drawingml/2006/main">
              <a:ext uri="{FF2B5EF4-FFF2-40B4-BE49-F238E27FC236}">
                <a16:creationId xmlns:a16="http://schemas.microsoft.com/office/drawing/2014/main" id="{16B3A90C-2A66-4E21-963F-2E556ED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771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F8B8D-BF7F-4C4D-AB74-016301B4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9B897-E6A7-4EBE-8C17-93ED759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049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48EC8-4697-4E81-A454-9F93185F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717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RViz 정합 실패·초기 자세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CFDE8-2F38-491B-9B44-5E72029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잘못된 seed와 정상 정합 화면을 나란히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501B9-1371-4CF9-B018-3D47CA83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지도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6FCEC-C756-4ECF-9A33-81798E0B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524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C8AA3"/>
                </a:solidFill>
                <a:latin typeface="Menlo"/>
                <a:ea typeface="Menlo"/>
                <a:cs typeface="Menlo"/>
              </a:rPr>
              <a:t>ed2b272 · bb14666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5125E-E5B2-4AA8-89A7-967AEBD1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66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0727 경로를 덮지 않는 0707 지도, auto-init/ICP의 서로 다른 map 파일을 하나의 hash-pinned runtime map으로 통일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00748-CA80-4C8A-8042-4BC93577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1FB6D-4094-40C2-B8E4-A15F5693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초기 방향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FBB21-0E92-49B1-B893-8A53CF55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90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C8AA3"/>
                </a:solidFill>
                <a:latin typeface="Menlo"/>
                <a:ea typeface="Menlo"/>
                <a:cs typeface="Menlo"/>
              </a:rPr>
              <a:t>0eb8c62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8E1A6-82AF-4C79-801C-0AF00618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66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시작 yaw가 실제 +3.7° 대신 -175.4°로 저장되어 ICP가 반대 방향에서 시작한 문제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0B312-9D86-4FBF-B09F-74B31EB6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E0CDF-4407-4D50-A131-772C1D7E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점수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B0B65-183C-4F32-92D7-65EF6EA3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C8AA3"/>
                </a:solidFill>
                <a:latin typeface="Menlo"/>
                <a:ea typeface="Menlo"/>
                <a:cs typeface="Menlo"/>
              </a:rPr>
              <a:t>defd0d2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D3FC3-39A6-4102-AA91-CCE02857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66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ROI 밖 scan을 outlier로 세던 inlier ratio를 ‘지도가 설명할 수 있는 범위’로 제한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E5D81-37F3-4966-A55D-33D1FDD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F23BE-A3AB-45CD-84F6-16CC1C5E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시간·신선도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6E8AD-9E44-4364-B1C6-517B9459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24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C8AA3"/>
                </a:solidFill>
                <a:latin typeface="Menlo"/>
                <a:ea typeface="Menlo"/>
                <a:cs typeface="Menlo"/>
              </a:rPr>
              <a:t>91e8d04 · 11b346e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6EE21-4CA1-4AE1-90CB-9D3C35BC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666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pose timestamp 단조성 보장, stale localization과 invalid route는 fail-closed 처리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22488-23A2-4F86-BF5A-2D911576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EC705-4F63-41BF-AEC6-CB28A8E6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771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D4E417-6A25-4446-A8B3-EDC47129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4825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0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핵심 해석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‘센서가 흔들린다’가 아니라 입력의 지도·자세·시간 의미가 서로 달랐습니다.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3EC22-CAB9-41E9-A994-C7F26921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06D0CE-112F-45D1-98F0-FC9D0B85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040EF-2DD3-4488-A7D5-4A42E201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07</a:t>
            </a:r>
          </a:p>
        </p:txBody>
      </p:sp>
    </p:spTree>
    <p:extLst>
      <p:ext uri="{BB962C8B-B14F-4D97-AF65-F5344CB8AC3E}">
        <p14:creationId xmlns:p14="http://schemas.microsoft.com/office/powerpoint/2010/main" val="1616087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86A55-FF03-401E-B012-D3B3A346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03 ·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2F58F-9B79-4C87-B1D7-3B8C961C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수동 주행은 제어·기하 오차를 추가로 드러냈습니다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43077-49AD-4B0D-AE3D-8C7CEBB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5705E-9222-4E52-B524-CAF5DF08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oto-휠체어 센서 위치·차체 중심 측정">
            <a:extLst xmlns:a="http://schemas.openxmlformats.org/drawingml/2006/main">
              <a:ext uri="{FF2B5EF4-FFF2-40B4-BE49-F238E27FC236}">
                <a16:creationId xmlns:a16="http://schemas.microsoft.com/office/drawing/2014/main" id="{BF605BE4-5CDD-46B7-A719-87A8910E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3434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BAA6D-6678-4008-AB31-59E37FC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9545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91590-E195-46E3-B079-3EADB01E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240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DC64D-2827-434F-B091-35A3C428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71825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휠체어 센서 위치·차체 중심 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60D47-169E-4ABE-987B-2758CED8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339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줄자 측정 또는 연석 근접 주행 사진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FC565-6FE3-42BC-ADF8-0B76CCAC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3E4D"/>
          </a:solidFill>
          <a:ln xmlns:a="http://schemas.openxmlformats.org/drawingml/2006/main" w="0">
            <a:solidFill>
              <a:srgbClr val="C83E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8B880-F8EE-47CE-BE32-859661FF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저속 선회가 바퀴에 도달하지 않음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3E5CC-58DA-44BB-ADA2-A7157E96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86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0.5 rad/s를 4초 명령해도 실제는 0.03–0.05 rad/s에 머물다가 한 번에 0.57 rad/s로 회전했습니다. 최소 휠 속도와 반올림을 수정했습니다.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48E58-90B1-41A8-8E16-BA3B562F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8A481-13EA-4181-BE4B-1C7163DD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경로 기준점이 센서와 차체 중심 사이에서 섞임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86595-CE61-4228-A56B-9954D8E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586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Livox는 차축 중심에서 앞 0.500 m, 왼쪽 0.200 m. 경로와 clearance를 같은 기준점으로 맞췄습니다.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EA3AB-9EA1-434B-A1A7-05CFDE84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E458E-985A-43D0-A3C3-322773C7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센서 높이 placeholder가 장애물을 가림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2EC19-601D-4ECE-A960-26DA615A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586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0.30 m로 남아 있던 높이를 실측 0.725 m로 수정해 57 cm 이하 물체가 검출 밴드 밖으로 빠지는 문제를 제거했습니다.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EBE48-97F8-4733-B019-7280A114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573AA-4C36-45D1-A188-AD009B5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64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결론  ·  로컬라이제이션 성능만 높여도, 구동과 기준 좌표가 틀리면 기록 경로를 안전하게 재현할 수 없습니다.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2F2B9-1D92-4DC8-9D2F-22ED845A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47EEB-4EF7-4C49-B035-2C9D771C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D35ED-1C69-49C5-B4DA-BA6139DB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08</a:t>
            </a:r>
          </a:p>
        </p:txBody>
      </p:sp>
    </p:spTree>
    <p:extLst>
      <p:ext uri="{BB962C8B-B14F-4D97-AF65-F5344CB8AC3E}">
        <p14:creationId xmlns:p14="http://schemas.microsoft.com/office/powerpoint/2010/main" val="3385183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D017C1-A203-446A-ADCE-1A43927D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04 · ROSBAG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24724-298F-406D-B56F-A731CA78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ROSBAG 원본 궤적을 ‘재현 가능한 경로’로 바꿨습니다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463A4-CA29-4E11-9219-407F3FF6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D0CA5-5A29-4E2B-B758-F284775A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11BF8-73F5-4990-926B-D2DB7170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0325"/>
            <a:ext cx="685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67978-02C4-4A98-A047-9C72A12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0325"/>
            <a:ext cx="685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55505-6DDA-4746-A8C4-69526A94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0325"/>
            <a:ext cx="685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E8F93-8D00-4325-A208-D198103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B777F-13C3-4D28-A178-3BBA39EF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AAD33-49A7-4D30-9292-482E0C32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원본 bag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9DC27-B97C-4FAE-8DB6-DC4DF7F7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2BB70-B6E2-49A6-9F3C-BCF10337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7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full_debug_20260727_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214306.bag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pose·yaw·정지 구간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4F60C-B097-4E4A-B921-18ED107F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6215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0CE39-BFD8-44BE-A922-DEDB4005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5F4E0-DBE4-4EC2-AB86-6A4465A0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궤적 정제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D1297-F2A4-496B-AFF4-7295D94B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96E11-A4E1-4039-8379-70B5C08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끝 회전 구간 제거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시작점·heading 복구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2C513-A362-46A5-AF3A-B3E1FB6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45142-3F59-40F0-8B7E-171E6B70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53896-B628-4BC3-8FB4-469CE44B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차체 기준 경로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0BA1B-4788-46A3-AB85-50CB22DE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12636-7F4E-4ED8-8264-AF260DC5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0.2 m 재표본화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1,446 points · 383.4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7CB58-8E13-434C-8460-1FBFD675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8F985-A07C-4188-942A-8BB5DF67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145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E9C8B-EDEC-41CB-8B01-B673F0E3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band와 배포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AC59F-DDA9-4B8B-9CEF-F46F57D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98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8FF7C-7505-4FA6-8AB4-0232ACB8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경계·clearance 결합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route/hash 일치 검증</a:t>
            </a:r>
          </a:p>
        </p:txBody>
      </p:sp>
      <p:sp>
        <p:nvSpPr>
          <p:cNvPr id="28" name="photo-원본 궤적과 재표본화 경로 오버레이">
            <a:extLst xmlns:a="http://schemas.openxmlformats.org/drawingml/2006/main">
              <a:ext uri="{FF2B5EF4-FFF2-40B4-BE49-F238E27FC236}">
                <a16:creationId xmlns:a16="http://schemas.microsoft.com/office/drawing/2014/main" id="{D84C53AC-7D70-4815-B729-A3951B23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334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8A2EA-8B02-4FF2-B703-5A9EA1B4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D21F4-DF1F-4AEF-A7A1-F9ED6D5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27B53-F245-4401-93F1-191033C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원본 궤적과 재표본화 경로 오버레이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D2CACB-30AC-4556-AED8-108E2811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map 위에 bag trace와 route를 다른 색으로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3194BD-C3E2-46F9-BBF6-C338402F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52768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18A67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61260B-AD8E-4B9D-B405-5B640F11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rPr>
              <a:t>경로 충실도 개선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EFA19C-5B67-4584-BCFC-467811B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5 m 근사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CE01F3-2116-4471-BEFC-009539FA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median 0.222 m  ·  p99 1.078 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6B69A8-27B3-4FE2-8C3A-F9B01F1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기록 궤적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E76088-ED35-4878-BD6D-CEF5F923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101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median 0.005 m  ·  p99 0.095 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90002B-B301-42AB-8D97-D148B73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86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‘예쁜 경로’보다 실제로 달린 선을 보존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B501A2-5C4C-4ECD-AF18-28699A42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C274E1-5187-482E-A464-07EC94A2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2DA4AE-59BE-4F12-B4BC-EB702833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09</a:t>
            </a:r>
          </a:p>
        </p:txBody>
      </p:sp>
    </p:spTree>
    <p:extLst>
      <p:ext uri="{BB962C8B-B14F-4D97-AF65-F5344CB8AC3E}">
        <p14:creationId xmlns:p14="http://schemas.microsoft.com/office/powerpoint/2010/main" val="965532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EB9EF-2DC0-4A96-9C2A-6A7CFC4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04 · TEST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3EE45-D52E-4B98-BCD8-E80A8CA4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한 번의 주행에는 한 가지 질문만 남겼습니다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9A904-8241-45CF-A0B0-BF991ECB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458DA-0E40-4120-821B-ECAFD1B3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75777-3F81-49FA-845F-E50FAE6B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질문: 383 m 동안 위치추정이 경로에 계속 붙어 있는가?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04592-707B-4981-B460-96589C51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C0F4B-8AF7-4680-865A-22F23F5C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이 실험에서 끈 판단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042ED-7C6E-4240-9361-CAB652C8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4648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• band containment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• geofence·slope·localization hold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• stopping envelope·scan-staleness 판단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• 장애물 우회 등 재량 정책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71364-949C-45F4-9869-F06C6CAC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5143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18A6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8835C-3312-4269-B46A-CE186489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rPr>
              <a:t>항상 유지한 fail-safe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55EFC-4ACF-4834-9449-EEBD6C3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648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• joystick 즉시 override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• wheel status freshness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• input stale / invalid / reverse 차단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• speed ceiling·PAUSED·DONE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06B3A-4142-40B5-B508-C27470DB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꺼진 정책도 WOULD_HOLD로 기록했습니다.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따라서 ‘멈추지 않고 측정’하면서도 실제 정책이 어디서 개입했을지는 bag으로 재구성할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51DDC-1CF5-445D-9776-3C3DE17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76CDE-9601-4932-A304-9CDDF45B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52a47a6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B0561-DBED-41D4-B2A9-DF6F23D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6265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SAFETY_POLICIES=false 진단 모드 · 판단과 fail-safe를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FEE79-B7DE-42A7-A9E9-CCDAE872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20FB5-FAF7-4390-AD39-45D5A4A1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57C44-942E-41E8-8C78-18E30731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10</a:t>
            </a:r>
          </a:p>
        </p:txBody>
      </p:sp>
    </p:spTree>
    <p:extLst>
      <p:ext uri="{BB962C8B-B14F-4D97-AF65-F5344CB8AC3E}">
        <p14:creationId xmlns:p14="http://schemas.microsoft.com/office/powerpoint/2010/main" val="830847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D92E88-DB89-41DE-8167-93BBA8EB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RESULT · LOCALIZATION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A94DE-24C0-410D-85F4-DA3E10F3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0727 원본 경로에서 위치추정은 두 번 모두 닫혔습니다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F6787-0B1D-41B2-B10D-F91283C3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95880-D010-459B-9F95-70BC4FB8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0B2BE-B4B5-4A1B-B5B2-FD53BA00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17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9ECED-9BA9-4C61-B1F9-555F0612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2회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EDE32-87B2-429B-99A8-C72F363B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완전 자율주행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C95AE-D135-43C1-BF88-910B2529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1,446 points end-to-end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61632-7F0B-4E5E-916D-0B5D2242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04950"/>
            <a:ext cx="217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67269-EB0D-4ADE-87BB-68578842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573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39E07-3FDA-4E79-B0A4-A115875D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주행 중 샘플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0F033-2AE8-4521-B585-B0F08742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9080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모든 샘플 TRACKING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EA718-2891-4142-8EE8-DF4F182A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04950"/>
            <a:ext cx="217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48ADB-46DA-46C4-B78A-FB6C2E23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573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0회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7AB4A-818D-483E-8763-5FCA6D3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860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LOCALIZATION 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B82AF-2720-4DCF-BB60-68955927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published + suppressed 모두 0</a:t>
            </a:r>
          </a:p>
        </p:txBody>
      </p:sp>
      <p:sp>
        <p:nvSpPr>
          <p:cNvPr id="17" name="photo-두 번의 완주 증거">
            <a:extLst xmlns:a="http://schemas.openxmlformats.org/drawingml/2006/main">
              <a:ext uri="{FF2B5EF4-FFF2-40B4-BE49-F238E27FC236}">
                <a16:creationId xmlns:a16="http://schemas.microsoft.com/office/drawing/2014/main" id="{19EEFE0A-0AEC-4C92-A229-1FF7BEB1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524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346A4-EE87-461A-A276-EBCDD231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D0E73-E6A4-4DE9-AF4C-8B09ECF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D265A-4BB4-4688-9DF0-6E1E07C0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두 번의 완주 증거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2529C-28E3-4216-B50C-2353C4E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RViz 경로 또는 blackbox 분석 캡처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7AB18-E7B6-4A52-A556-CA4E788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측정 envelope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83A38-0EAB-42B1-A370-07A13748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76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046AD2-10AC-4F4A-B6C1-8B724A1C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553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4CEAA-F604-4364-9278-3B326025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inlier_ratio  0.9666 – 1.0000  (mean 0.9949)     gate &gt; 0.20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39800-0940-4E29-9486-54E3C77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76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0DB9B-321B-4901-8C3F-4A4E002F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800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75"/>
          </a:solidFill>
          <a:ln xmlns:a="http://schemas.openxmlformats.org/drawingml/2006/main" w="0">
            <a:solidFill>
              <a:srgbClr val="18A67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2F90AD-56AD-4C4E-BD83-F2A3AC6E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fitness  0.0137 – 0.0329  (mean 0.0219)     gate &lt; 0.28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0C8DA-7FB6-4A2F-878B-633380B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48100"/>
            <a:ext cx="3524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ED7C10-BDDB-4080-87B9-DCD80167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초기화도 수동 seed 없이 통과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AB5536-2E5A-4070-B740-7C753DC0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1960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1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WAITING_INITIALIZATION → VERIFYING → TRACKING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정지 drift 0.016 m / 0.014 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C4C027-B7F8-4182-95AF-B6A57ABC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61EAA-F4D1-4985-8364-017282D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단, 목표점에서 20분 정지 후 inlier 0.124–0.262로 4회 gate를 교차했습니다. 주행 중이 아닌 ‘목표 지점의 약한 geometry’로 기록했습니다.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DB104-C28C-403E-9D8B-818A7AC1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F79695-C332-46BC-AEAF-FA31E282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08956E-8DB4-4243-88D3-C7D840C5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11</a:t>
            </a:r>
          </a:p>
        </p:txBody>
      </p:sp>
    </p:spTree>
    <p:extLst>
      <p:ext uri="{BB962C8B-B14F-4D97-AF65-F5344CB8AC3E}">
        <p14:creationId xmlns:p14="http://schemas.microsoft.com/office/powerpoint/2010/main" val="81815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86A76-584E-4B35-8FA1-2C563C43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05 · SAFETY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4C425-77F6-4B07-A798-9EBF70B5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안전 체인은 상위 노드가 실패해도 정지하도록 구성했습니다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D803F-6BD4-4630-9974-92FDF171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EB475-A7CD-434D-8D22-BA264D23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B08E1-B4F1-4D9B-AA9E-B7FECB6B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552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B257B-5BC7-429D-9FDA-1AFAA0A4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28900"/>
            <a:ext cx="552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solidFill>
              <a:srgbClr val="D7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77C72-E07B-4AEC-85BF-24883951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552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solidFill>
              <a:srgbClr val="D7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89A84-8E4A-4DA1-81C6-6FAD38F1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209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71FD3-71AD-45C7-ABFB-F56DED9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209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16A37-F35D-4313-8E98-ADF3707A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waypoint follower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CA5A3-FBFD-4475-9BDA-FE5B5CC2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C8AA3"/>
                </a:solidFill>
                <a:latin typeface="Menlo"/>
                <a:ea typeface="Menlo"/>
                <a:cs typeface="Menlo"/>
              </a:rPr>
              <a:t>/cmd_vel_raw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AA29C-743B-402F-808E-D9E05082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경로 추종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band·장애물 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22693-6B61-4C83-B741-485D2E0B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209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A6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CDCAF-B6CE-4388-8A18-D3F9315E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209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75"/>
          </a:solidFill>
          <a:ln xmlns:a="http://schemas.openxmlformats.org/drawingml/2006/main" w="0">
            <a:solidFill>
              <a:srgbClr val="18A6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92D96-49C9-4621-BBE0-2BCA73F1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safety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44828-7B72-4AA4-BAE4-11C4993C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28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C8AA3"/>
                </a:solidFill>
                <a:latin typeface="Menlo"/>
                <a:ea typeface="Menlo"/>
                <a:cs typeface="Menlo"/>
              </a:rPr>
              <a:t>/cmd_vel_gated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BD93B-77E4-4E2F-B2BC-3761F7E6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정지 envelope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swept footprint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82225-A962-470B-9C32-58244F3F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209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4C85C-9BED-4629-A84D-668D863F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209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001CF-6B97-4345-A25F-0A4F1E49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tip guard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58F6F-4A60-4331-BCDF-8E2F21E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C8AA3"/>
                </a:solidFill>
                <a:latin typeface="Menlo"/>
                <a:ea typeface="Menlo"/>
                <a:cs typeface="Menlo"/>
              </a:rPr>
              <a:t>/cmd_vel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24481-3776-421D-ABE2-2DD75FC0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rate limit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staleness fail-safe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671E8-09C2-4112-A417-880F1D44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209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E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E3289-61BA-423E-A3A4-B071A4AF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209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3E4D"/>
          </a:solidFill>
          <a:ln xmlns:a="http://schemas.openxmlformats.org/drawingml/2006/main" w="0">
            <a:solidFill>
              <a:srgbClr val="C83E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4EDC32-8762-4E81-8F0F-CB07B70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28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wheel / UART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53242-F1B5-4804-8230-85A401A8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7C8AA3"/>
                </a:solidFill>
                <a:latin typeface="Menlo"/>
                <a:ea typeface="Menlo"/>
                <a:cs typeface="Menlo"/>
              </a:rPr>
              <a:t>motor 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5617C-5191-4A05-A3C9-072193A7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480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checksum·watchdog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최종 구동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80367-DEA8-4C2E-9D68-AA4A6E2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EC4A1-1787-48BF-A92B-3E46E8BA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51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follower가 죽으면 gate가 정지하고, gate가 죽으면 tip guard의 stale 검사가 정지시키며, 마지막에는 UART watchdog이 command starvation을 차단합니다.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1AF11-B7C6-4475-ADD5-65CE81FC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C83E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FF1E4E-4813-4A66-A04F-E3D98D5F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1059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C83E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C83E4D"/>
                </a:solidFill>
                <a:latin typeface="Apple SD Gothic Neo"/>
                <a:ea typeface="Apple SD Gothic Neo"/>
                <a:cs typeface="Apple SD Gothic Neo"/>
              </a:rPr>
              <a:t>운영자 joystick override는 어떤 진단 모드에서도 해제되지 않습니다.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595A14-35D2-4074-9F4D-A94C2B46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BE377C-4A3A-458E-9CD3-A07B9FCE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EF42A0-CBCE-4F89-8E04-0954723B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12</a:t>
            </a:r>
          </a:p>
        </p:txBody>
      </p:sp>
    </p:spTree>
    <p:extLst>
      <p:ext uri="{BB962C8B-B14F-4D97-AF65-F5344CB8AC3E}">
        <p14:creationId xmlns:p14="http://schemas.microsoft.com/office/powerpoint/2010/main" val="735926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CAE93B-90A6-4C32-94C4-951F3938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05 · FIELD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04E17-7FDA-42AE-84FB-9EAB313E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08/02 기록은 동작과 검증 한계를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C62C3-25D5-4851-984E-D27B866D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7AC5C-D456-49E7-B312-7B1CA75A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2F63C-17FA-4739-83E1-20BC99C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95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D698F-019C-4EB3-ADC9-4490AA3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3개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24415-397D-42C4-9EDC-AF31AFA3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완료된 blackbox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7F70E-A837-4E04-BBF7-DF25510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모두 indexed · LZ4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D131F-DD59-4F41-AAE1-2F25693B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195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80ADC-AA4B-417C-93DF-690BBA1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573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36:45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E930C-C82C-47FD-BA4F-C3DE922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총 기록 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E42DC-0E77-4553-993F-6D409F5E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90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1,126,515 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F0E0D-4EDC-4574-8356-8AC571E4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04950"/>
            <a:ext cx="195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5CF4-B61A-4DCF-A667-558705C0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573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0→1126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E70AA-3199-49B0-8B36-F0A0D2B3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세 번째 주행 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1B452-E577-4294-8187-330F028B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waypoint 기준</a:t>
            </a:r>
          </a:p>
        </p:txBody>
      </p:sp>
      <p:sp>
        <p:nvSpPr>
          <p:cNvPr id="17" name="photo-08/02 route v4 현장 주행">
            <a:extLst xmlns:a="http://schemas.openxmlformats.org/drawingml/2006/main">
              <a:ext uri="{FF2B5EF4-FFF2-40B4-BE49-F238E27FC236}">
                <a16:creationId xmlns:a16="http://schemas.microsoft.com/office/drawing/2014/main" id="{84890754-2DDD-4B0B-887D-645C8F4B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ABF42-12A4-4AF3-AC93-A98F95AF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38300"/>
            <a:ext cx="781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36867-1A20-4B74-BBB0-70567C1D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668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삽입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B2AD1-276B-439D-ACEB-09BDA855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574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08/02 route v4 현장 주행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2704B-4F62-48FE-9698-28CFB2C3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623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실차·RViz·blackbox 상태 화면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A0ED1-0D1C-45C5-AD47-DCFCE77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75"/>
          </a:solidFill>
          <a:ln xmlns:a="http://schemas.openxmlformats.org/drawingml/2006/main" w="0">
            <a:solidFill>
              <a:srgbClr val="18A6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4B036-4A08-4232-B3A6-C4B33FA4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643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관측된 정상 동작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48B4E-0A13-4DF6-96A9-68DB01EC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643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세 기록 모두 localization은 TRACKING 유지. 세 번째 기록의 time mismatch 7회는 level 0 단발성이며 LOST/DEGRADED 전환이 없었습니다.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5E7B3-EECE-463E-BFFD-0AECAE1E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6CB3B-FD46-41F5-A139-376C53F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643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안전 관련 기록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37E0FF-AA22-48D5-B874-DE7364C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643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실제 정지 18개 구간, tip_guard 비정상 상태 0, object summary 6,442개 전부 OK. 긴 정지는 주로 MANUAL_MODE와 PAUSED였습니다.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BA076-5ACE-48C2-9C92-9C7CBC7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05250"/>
            <a:ext cx="4095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CC6B7-195B-4D85-BFAC-0A0709C9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검증 한계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F1231-03FC-4A6A-AB94-8C736ED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638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bag에 route ID/hash와 safety mode가 없어 ‘어떤 정책 조합으로 달렸는지’를 bag만으로 증명할 수 없습니다.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shadow-safety 프로토타입도 당시 미완료였습니다.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7B1DB-D130-46AB-951F-300D7004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4124A6-E75F-4449-A436-28CB169E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f69351f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B66582-417F-4BB3-8FFF-89B7EEE5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08/02 field report  ·  기록 보존과 한계를 함께 문서화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6ACC79-F697-4FE7-8ED0-58512721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7DA69E-8F86-4258-AC2C-BEF83B61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4EDC16-450F-4535-956B-72E787F0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13</a:t>
            </a:r>
          </a:p>
        </p:txBody>
      </p:sp>
    </p:spTree>
    <p:extLst>
      <p:ext uri="{BB962C8B-B14F-4D97-AF65-F5344CB8AC3E}">
        <p14:creationId xmlns:p14="http://schemas.microsoft.com/office/powerpoint/2010/main" val="19169330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967D03-A850-49D2-92E8-72C68DEA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5FF1D-ADF6-4588-AD79-B487B61F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현재는 0727 검증 완료, v4 안전 검증은 진행 중입니다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FF72B-D5CF-4D5D-A103-EB84EAD5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4C874-4D21-4521-B584-2A98E11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CDA18-AFA7-4D8F-8950-85114118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18A6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6832D-4F65-4019-8B43-60B60FB7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A675"/>
                </a:solidFill>
                <a:latin typeface="Apple SD Gothic Neo"/>
                <a:ea typeface="Apple SD Gothic Neo"/>
                <a:cs typeface="Apple SD Gothic Neo"/>
              </a:rPr>
              <a:t>완료된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B579D-5DD2-477E-A34D-78A056E4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75"/>
          </a:solidFill>
          <a:ln xmlns:a="http://schemas.openxmlformats.org/drawingml/2006/main" w="0">
            <a:solidFill>
              <a:srgbClr val="18A6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9A7C5-6616-4B67-990D-E2A9CFC7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센서 기준선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F8C11-648C-42FC-A24F-AD5B3369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Livox 내장 IMU가 현장 기본값. VN-100은 diagnostic override.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BAEF5-A363-407F-9CAB-3846012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75"/>
          </a:solidFill>
          <a:ln xmlns:a="http://schemas.openxmlformats.org/drawingml/2006/main" w="0">
            <a:solidFill>
              <a:srgbClr val="18A6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5D9AB-A2D0-4262-82F4-5A470701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0727 위치추정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4DDD6-D064-4CCF-94DD-1110F150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두 번 완주, 주행 샘플 전부 TRACKING, localization hold 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901F6-6159-4EB6-A215-EC51FCC8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675"/>
          </a:solidFill>
          <a:ln xmlns:a="http://schemas.openxmlformats.org/drawingml/2006/main" w="0">
            <a:solidFill>
              <a:srgbClr val="18A6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3E34D-B893-440C-9F2E-5387E070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기록 가능성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0A98D-DAA0-4118-94E9-C4661625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blackbox와 분석 도구로 센서·상태·정지 이벤트 재구성 가능.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630EA-0F46-401A-B684-65F43A92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52387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C83E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163D0-C892-4768-A2CC-48996167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C83E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C83E4D"/>
                </a:solidFill>
                <a:latin typeface="Apple SD Gothic Neo"/>
                <a:ea typeface="Apple SD Gothic Neo"/>
                <a:cs typeface="Apple SD Gothic Neo"/>
              </a:rPr>
              <a:t>아직 열린 위험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32798-1BA1-419F-86FA-2AF31A1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52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3E4D"/>
          </a:solidFill>
          <a:ln xmlns:a="http://schemas.openxmlformats.org/drawingml/2006/main" w="0">
            <a:solidFill>
              <a:srgbClr val="C83E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B9809-BD2B-4AE0-8C9F-6C1DA2E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v4 localization envelope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5F61B-FA07-45CE-92B0-04BD6A6C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441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현재 배포 경로 v4에서는 0727 수준의 두-run envelope를 재측정하지 않았습니다.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D292B-CA62-4E2F-AB5F-87D04903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9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3E4D"/>
          </a:solidFill>
          <a:ln xmlns:a="http://schemas.openxmlformats.org/drawingml/2006/main" w="0">
            <a:solidFill>
              <a:srgbClr val="C83E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8CA7C-DFB4-488F-97BF-B0007827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물리 경계 의미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D09FA-316B-46F9-AC12-17EF6DFE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48050"/>
            <a:ext cx="441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v4 band 1,516개 edge가 모두 open으로 기록되어, kerb/drop 근거가 측정값이 아닌 drawing입니다.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68AE9-6E93-48BF-ADAF-B0BAE6B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62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3E4D"/>
          </a:solidFill>
          <a:ln xmlns:a="http://schemas.openxmlformats.org/drawingml/2006/main" w="0">
            <a:solidFill>
              <a:srgbClr val="C83E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425BD-F7FE-4915-95E2-86E9F8D6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evidence identity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A2038-2264-4CB0-B6DC-6D339335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41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bag만으로 route hash·safety mode를 확인할 수 없어 재현성에 빈틈이 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DEF77-EB19-4E53-8067-74F22128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429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D7E0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C413A-B14B-4860-B9CA-55D4FB3E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사진 삽입  ·  v4 corridor preview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6400E-142B-4028-B2D0-35FD29A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626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중간점검 판단  ·  ‘자율주행 가능’이 아니라, 0727 기준선 검증을 기반으로 v4의 안전 근거를 채우는 단계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2F32D-717B-4D41-9758-1058D31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DED8D-5F66-4F89-A8D6-C83350B9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A6C08-839F-484B-991C-1000F9A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14</a:t>
            </a:r>
          </a:p>
        </p:txBody>
      </p:sp>
    </p:spTree>
    <p:extLst>
      <p:ext uri="{BB962C8B-B14F-4D97-AF65-F5344CB8AC3E}">
        <p14:creationId xmlns:p14="http://schemas.microsoft.com/office/powerpoint/2010/main" val="2598563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08771C-5D2E-4FA5-B06D-9539BF36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DFAC2-FF57-482C-AD5C-9642D8FD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다음 주행은 v4의 안전 근거를 채우는 실험입니다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01BB8-33B6-4F1A-84A5-E837BABD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05C0A-41D2-4723-A34F-8BD8E585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A0B8C-3795-471E-931A-7EAE7DD9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7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86B2E-BFAC-43D0-A7CB-78F110D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기준선 고정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F734D-56B9-4A9B-AF4F-1BB8211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VN_IMU=0, route/hash/safety mode를 bag에 기록하고 실험 중 변경 금지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9CBBE-717D-4ADE-BA06-DF04C5E1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1935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1AE58-1917-4CF1-A479-49534AA2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7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0A14B-2504-42C4-B35D-D25177C4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v4 위치추정 2회 반복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6298F-3474-4218-AE4E-8890A9B2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동일 조건 두 번 완주 후 inlier·fitness·TRACKING·drift envelope 확정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78B49-F68F-4D87-BBFB-985024C0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7F8D9-ACFF-4329-BB49-B831A981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7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1F19D-A852-46E0-9BE9-B3AEDD9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05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안전 정책 shadow → active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9426F-5966-41F3-8AC9-F92F4D29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처음에는 WOULD_HOLD와 실제 정지를 비교하고, raised-wheel 검증 후 full gate 주행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DEB86-107E-4634-9F64-ED0CD5E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BC8BE-1CDD-4F48-B6E9-6C053624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7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DE9C3-0B09-4293-A275-DCBD6CB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물리 경계 재측정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9EE05-35ED-4FF2-B2B3-0BC5E1CE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v4 corridor의 kerb/drop semantics를 map·현장 측정으로 채워 drawing 의존 축소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AA724-9055-4066-874B-AC482F05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1975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06E73-40EB-4387-9485-3A6288E7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562350" cy="4267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732DB-9739-42BA-838C-E97530F3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716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교수님께 확인받을 사항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0F035-4883-43B1-84E4-8125791C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F048F-5C95-4B13-8D60-3DAAB8A0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① VN-100 재융합은 v4 안전 검증 이후 별도 실험으로 분리할지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0CAB98-1EB7-4867-9428-C8B0B418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ADC14-CEC9-4F56-A507-CF7F8A2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② 다음 중간 목표를 ‘v4 두 번 완주 + full safety trace’로 잡을지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3C7A9C-AEEF-47FD-B02F-74CD792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7C5C2-2808-4944-8E68-AD9C863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③ 물리 경계 측정의 허용 오차와 현장 측정 방법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D2F58-14D7-4BBF-B79B-84EFA69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E1E68-A830-4790-9A36-EA122FDD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75A"/>
                </a:solidFill>
                <a:latin typeface="Apple SD Gothic Neo"/>
                <a:ea typeface="Apple SD Gothic Neo"/>
                <a:cs typeface="Apple SD Gothic Neo"/>
              </a:rPr>
              <a:t>④ passenger/campus 실험 전 요구할 추가 안전 증거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CD86C6-A341-43E5-8A1E-A5006B25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233D"/>
          </a:solidFill>
          <a:ln xmlns:a="http://schemas.openxmlformats.org/drawingml/2006/main" w="0">
            <a:solidFill>
              <a:srgbClr val="1523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9AFC1-6A14-4E95-817C-5BD4BA9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제안: 센서 재융합보다 먼저, 현재 배포 경로의 위치추정·안전 근거를 동일 bag에서 재현 가능하게 닫겠습니다.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98BC7-35BA-4124-B715-6FDB4EA6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DF7384-AF65-4B12-8651-6FD32490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Livox 단일 구성 회귀 이후 중간점검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0AFA7F-C5EA-4A22-85CF-86BF997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15</a:t>
            </a:r>
          </a:p>
        </p:txBody>
      </p:sp>
    </p:spTree>
    <p:extLst>
      <p:ext uri="{BB962C8B-B14F-4D97-AF65-F5344CB8AC3E}">
        <p14:creationId xmlns:p14="http://schemas.microsoft.com/office/powerpoint/2010/main" val="14244045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587645-D652-4529-91D8-F7111ED2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9A005-4DD0-4674-8B23-CEF58FE9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5233D"/>
                </a:solidFill>
                <a:latin typeface="Apple SD Gothic Neo"/>
                <a:ea typeface="Apple SD Gothic Neo"/>
                <a:cs typeface="Apple SD Gothic Neo"/>
              </a:rPr>
              <a:t>핵심 커밋 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DE390-CE3B-4635-9E6E-02B4F554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662BF-7877-417A-8AD2-BD0B9F4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23C9A-6E16-45F0-8A85-F128B7E3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분석 범위  999028a (2026-07-27)  →  a3f0e85 (2026-08-03)  ·  총 68 commits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C0948-134C-4CD5-AA91-95B5297A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28534-CA07-4FD9-A067-F7921759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센서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2FFE9-ECA4-4455-95A4-0AA925F1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383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3a64b80 → 999028a → bb14666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927BD-A06B-4AA8-B62A-B5439879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VN-100 융합 → 전체 회귀 → Livox 기본값·VN diagnostic override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DBB12-6DAB-468C-9675-F39A0EDE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75704-2C9F-4852-BACD-86600998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측정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B7023-930D-4B74-A190-A5959A8E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432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4ca3350 · d52ce66 · 35122b8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C0DBB-1D3B-4B50-AFFE-E20F439B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one-shot bag → 두 IMU 비교 → 07/27 결과 문서화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2C04E-809C-4A38-A31E-C484F953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841FF-CC8A-4B9D-9236-F6A022A0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위치추정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C2F06-ABF3-47FB-B8F3-57E6020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480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91e8d04 · 11b346e · 0eb8c62 · defd0d2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44D87-1093-423C-8426-44B121BD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909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timestamp·fail-closed·초기 yaw·inlier score/steering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2AD80-3346-4101-8E14-F6407C13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DA5BB-5782-491A-8397-C920888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지도/경로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1F98E-A810-4B79-8ABA-CCBC54BB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ed2b272 · bb14666 · bd37dbb · a847579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0370C-3B24-49C2-843D-0DE33125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merged map·single identity·chair centre·recorded trace 보존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CD578-E998-46E1-8024-E65C64C2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DDFF04-2DC4-40E8-8F35-D24B47E9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구동/기하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A3F040-593C-46D4-9A4A-923AE377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e12f9b8 · ffc001b · a8bb453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332C5-8890-42E3-9288-EEDF059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006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저속 선회·센서 높이·route reference 재현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FC818-9B22-487D-A86A-DDE73B28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D585C-B852-46E0-AB2E-2A4F3AF9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3A04E-9123-458B-AAA4-69A5C74D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626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5233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5233D"/>
                </a:solidFill>
                <a:latin typeface="Menlo"/>
                <a:ea typeface="Menlo"/>
                <a:cs typeface="Menlo"/>
              </a:rPr>
              <a:t>f59e30f · 52a47a6 · f69351f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40B14-CD71-4278-9B30-98A7395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05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79"/>
                </a:solidFill>
                <a:latin typeface="Apple SD Gothic Neo"/>
                <a:ea typeface="Apple SD Gothic Neo"/>
                <a:cs typeface="Apple SD Gothic Neo"/>
              </a:rPr>
              <a:t>두 번 완주·진단 모드·08/02 field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36F1D-6D18-43C1-A0B3-1A68F5B7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6B3005-315C-43D6-918D-C064E89B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755D61-6D90-4AA5-948E-D612734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부록 · Git evidence map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E57C10-F79B-441C-B098-1C66997A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C8AA3"/>
                </a:solidFill>
                <a:latin typeface="Apple SD Gothic Neo"/>
                <a:ea typeface="Apple SD Gothic Neo"/>
                <a:cs typeface="Apple SD Gothic Neo"/>
              </a:rPr>
              <a:t>2026.08.03  ·  16</a:t>
            </a:r>
          </a:p>
        </p:txBody>
      </p:sp>
    </p:spTree>
    <p:extLst>
      <p:ext uri="{BB962C8B-B14F-4D97-AF65-F5344CB8AC3E}">
        <p14:creationId xmlns:p14="http://schemas.microsoft.com/office/powerpoint/2010/main" val="192517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2026-08-03T09:37:13.0470000Z</dcterms:created>
  <dcterms:modified xsi:type="dcterms:W3CDTF">2026-08-03T09:37:13.0470000Z</dcterms:modified>
</coreProperties>
</file>